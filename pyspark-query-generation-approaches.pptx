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00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450000" y="850000"/>
            <a:ext cx="1100000" cy="1100000"/>
          </a:xfrm>
          <a:prstGeom prst="ellipse">
            <a:avLst/>
          </a:prstGeom>
          <a:solidFill>
            <a:srgbClr val="AB47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00000" y="4500000"/>
            <a:ext cx="1400000" cy="1400000"/>
          </a:xfrm>
          <a:prstGeom prst="ellipse">
            <a:avLst/>
          </a:prstGeom>
          <a:solidFill>
            <a:srgbClr val="4FC3F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50000" y="5450000"/>
            <a:ext cx="700000" cy="700000"/>
          </a:xfrm>
          <a:prstGeom prst="ellipse">
            <a:avLst/>
          </a:prstGeom>
          <a:solidFill>
            <a:srgbClr val="26C6D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PySpark Query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30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C3F7"/>
                </a:solidFill>
              </a:defRPr>
            </a:pPr>
            <a:r>
              <a:t>Two Approaches: RAG vs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0" y="3700000"/>
            <a:ext cx="3200000" cy="30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0000" y="4000000"/>
            <a:ext cx="9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B0"/>
                </a:solidFill>
              </a:defRPr>
            </a:pPr>
            <a:r>
              <a:t>Generating PySpark code from natural language descriptions</a:t>
            </a:r>
            <a:br/>
            <a:r>
              <a:t>using retrieval-augmented generation and model fine-tuning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95847" y="5300000"/>
            <a:ext cx="1800000" cy="380000"/>
          </a:xfrm>
          <a:prstGeom prst="roundRect">
            <a:avLst>
              <a:gd name="adj" fmla="val 8000"/>
            </a:avLst>
          </a:prstGeom>
          <a:solidFill>
            <a:srgbClr val="22223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FC3F7"/>
                </a:solidFill>
              </a:defRPr>
            </a:pPr>
            <a:r>
              <a:t>DeepSeek 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95847" y="5300000"/>
            <a:ext cx="1800000" cy="380000"/>
          </a:xfrm>
          <a:prstGeom prst="roundRect">
            <a:avLst>
              <a:gd name="adj" fmla="val 8000"/>
            </a:avLst>
          </a:prstGeom>
          <a:solidFill>
            <a:srgbClr val="22223A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BB6A"/>
                </a:solidFill>
              </a:defRPr>
            </a:pPr>
            <a:r>
              <a:t>FAISS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5847" y="5300000"/>
            <a:ext cx="1800000" cy="380000"/>
          </a:xfrm>
          <a:prstGeom prst="roundRect">
            <a:avLst>
              <a:gd name="adj" fmla="val 8000"/>
            </a:avLst>
          </a:prstGeom>
          <a:solidFill>
            <a:srgbClr val="22223A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B47BC"/>
                </a:solidFill>
              </a:defRPr>
            </a:pPr>
            <a:r>
              <a:t>Ollama / vLLM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5847" y="5300000"/>
            <a:ext cx="1800000" cy="380000"/>
          </a:xfrm>
          <a:prstGeom prst="roundRect">
            <a:avLst>
              <a:gd name="adj" fmla="val 8000"/>
            </a:avLst>
          </a:prstGeom>
          <a:solidFill>
            <a:srgbClr val="22223A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A726"/>
                </a:solidFill>
              </a:defRPr>
            </a:pPr>
            <a:r>
              <a:t>QLoRA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5847" y="5300000"/>
            <a:ext cx="1800000" cy="380000"/>
          </a:xfrm>
          <a:prstGeom prst="roundRect">
            <a:avLst>
              <a:gd name="adj" fmla="val 8000"/>
            </a:avLst>
          </a:prstGeom>
          <a:solidFill>
            <a:srgbClr val="22223A"/>
          </a:solidFill>
          <a:ln w="19050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6292"/>
                </a:solidFill>
              </a:defRPr>
            </a:pPr>
            <a:r>
              <a:t>HuggingFace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50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00000" y="100000"/>
            <a:ext cx="9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FC3F7"/>
                </a:solidFill>
              </a:defRPr>
            </a:pPr>
            <a:r>
              <a:t>Approach 1: RAG (Retrieval-Augmented Generation)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83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</a:defRPr>
            </a:pPr>
            <a:r>
              <a:t>Query-time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847" y="1150000"/>
            <a:ext cx="1750000" cy="52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B47BC"/>
                </a:solidFill>
              </a:defRPr>
            </a:pPr>
            <a: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847" y="1700000"/>
            <a:ext cx="1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Natural language</a:t>
            </a:r>
            <a:br/>
            <a:r>
              <a:t>description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20847" y="1410000"/>
            <a:ext cx="150000" cy="0"/>
          </a:xfrm>
          <a:prstGeom prst="line">
            <a:avLst/>
          </a:prstGeom>
          <a:ln w="25400">
            <a:solidFill>
              <a:srgbClr val="AB47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0847" y="1150000"/>
            <a:ext cx="1750000" cy="52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C3F7"/>
                </a:solidFill>
              </a:defRPr>
            </a:pPr>
            <a: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0847" y="1700000"/>
            <a:ext cx="1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all-MiniLM-L6-v2</a:t>
            </a:r>
            <a:br/>
            <a:r>
              <a:t>(384 dimensions)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20847" y="1410000"/>
            <a:ext cx="150000" cy="0"/>
          </a:xfrm>
          <a:prstGeom prst="line">
            <a:avLst/>
          </a:prstGeom>
          <a:ln w="25400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70847" y="1150000"/>
            <a:ext cx="1750000" cy="52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FAISS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847" y="1700000"/>
            <a:ext cx="1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Top-k similar</a:t>
            </a:r>
            <a:br/>
            <a:r>
              <a:t>examples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0847" y="1410000"/>
            <a:ext cx="150000" cy="0"/>
          </a:xfrm>
          <a:prstGeom prst="line">
            <a:avLst/>
          </a:prstGeom>
          <a:ln w="25400">
            <a:solidFill>
              <a:srgbClr val="66B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70847" y="1150000"/>
            <a:ext cx="1750000" cy="52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726"/>
                </a:solidFill>
              </a:defRPr>
            </a:pPr>
            <a:r>
              <a:t>Build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0847" y="1700000"/>
            <a:ext cx="1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Few-shot prompt</a:t>
            </a:r>
            <a:br/>
            <a:r>
              <a:t>with examples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20847" y="1410000"/>
            <a:ext cx="150000" cy="0"/>
          </a:xfrm>
          <a:prstGeom prst="line">
            <a:avLst/>
          </a:prstGeom>
          <a:ln w="25400">
            <a:solidFill>
              <a:srgbClr val="FFA7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70847" y="1150000"/>
            <a:ext cx="1750000" cy="52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6292"/>
                </a:solidFill>
              </a:defRPr>
            </a:pPr>
            <a: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0847" y="1700000"/>
            <a:ext cx="1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DeepSeek Coder</a:t>
            </a:r>
            <a:br/>
            <a:r>
              <a:t>6.7B via Ollama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20847" y="1410000"/>
            <a:ext cx="150000" cy="0"/>
          </a:xfrm>
          <a:prstGeom prst="line">
            <a:avLst/>
          </a:prstGeom>
          <a:ln w="25400">
            <a:solidFill>
              <a:srgbClr val="F062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70847" y="1150000"/>
            <a:ext cx="1750000" cy="52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6C6DA"/>
                </a:solidFill>
              </a:defRPr>
            </a:pPr>
            <a:r>
              <a:t>PySpark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0847" y="1700000"/>
            <a:ext cx="1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Generated</a:t>
            </a:r>
            <a:br/>
            <a:r>
              <a:t>code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0000" y="2400000"/>
            <a:ext cx="11400000" cy="20000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000" y="246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</a:defRPr>
            </a:pPr>
            <a:r>
              <a:t>Offline Indexing Phase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95847" y="2800000"/>
            <a:ext cx="2600000" cy="45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B47BC"/>
                </a:solidFill>
              </a:defRPr>
            </a:pPr>
            <a:r>
              <a:t>JSONL Training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5847" y="327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description + pyspark_code</a:t>
            </a:r>
            <a:br/>
            <a:r>
              <a:t>pairs in JSONL format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95847" y="3025000"/>
            <a:ext cx="300000" cy="0"/>
          </a:xfrm>
          <a:prstGeom prst="line">
            <a:avLst/>
          </a:prstGeom>
          <a:ln w="25400">
            <a:solidFill>
              <a:srgbClr val="AB47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795847" y="2800000"/>
            <a:ext cx="2600000" cy="45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C3F7"/>
                </a:solidFill>
              </a:defRPr>
            </a:pPr>
            <a:r>
              <a:t>Sentence Transformer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5847" y="327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Embeds descriptions into</a:t>
            </a:r>
            <a:br/>
            <a:r>
              <a:t>384-dim vectors (CPU)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95847" y="3025000"/>
            <a:ext cx="300000" cy="0"/>
          </a:xfrm>
          <a:prstGeom prst="line">
            <a:avLst/>
          </a:prstGeom>
          <a:ln w="25400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695847" y="2800000"/>
            <a:ext cx="2600000" cy="45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6BB6A"/>
                </a:solidFill>
              </a:defRPr>
            </a:pPr>
            <a:r>
              <a:t>FAISS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5847" y="327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IndexFlatIP with normalized</a:t>
            </a:r>
            <a:br/>
            <a:r>
              <a:t>vectors (cosine similarity)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000" y="4050000"/>
            <a:ext cx="11400000" cy="20000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0000" y="411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C6DA"/>
                </a:solidFill>
              </a:defRPr>
            </a:pPr>
            <a:r>
              <a:t>What's Needed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847" y="4450000"/>
            <a:ext cx="2500000" cy="420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BB6A"/>
                </a:solidFill>
              </a:defRPr>
            </a:pPr>
            <a:r>
              <a:t>No GPU for Indexing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847" y="4885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Embedding + indexing</a:t>
            </a:r>
            <a:br/>
            <a:r>
              <a:t>runs entirely on CPU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95847" y="4450000"/>
            <a:ext cx="2500000" cy="420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FC3F7"/>
                </a:solidFill>
              </a:defRPr>
            </a:pPr>
            <a:r>
              <a:t>Ollama or vLLM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5847" y="4885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Local LLM server</a:t>
            </a:r>
            <a:br/>
            <a:r>
              <a:t>for inference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4450000"/>
            <a:ext cx="2500000" cy="420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B47BC"/>
                </a:solidFill>
              </a:defRPr>
            </a:pPr>
            <a:r>
              <a:t>JSONL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5847" y="4885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Training pairs:</a:t>
            </a:r>
            <a:br/>
            <a:r>
              <a:t>description + 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95847" y="4450000"/>
            <a:ext cx="2500000" cy="420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A726"/>
                </a:solidFill>
              </a:defRPr>
            </a:pPr>
            <a:r>
              <a:t>Fast Setup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5847" y="4885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Minutes to index,</a:t>
            </a:r>
            <a:br/>
            <a:r>
              <a:t>no training needed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0000" y="55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BB6A"/>
                </a:solidFill>
              </a:defRPr>
            </a:pPr>
            <a:r>
              <a:t>Pros: No GPU training, easy updates (re-index), fast setup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55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6292"/>
                </a:solidFill>
              </a:defRPr>
            </a:pPr>
            <a:r>
              <a:t>Cons: Quality depends on similar examples, larger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50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00000" y="100000"/>
            <a:ext cx="9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726"/>
                </a:solidFill>
              </a:defRPr>
            </a:pPr>
            <a:r>
              <a:t>Approach 2: QLoRA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83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</a:defRPr>
            </a:pPr>
            <a:r>
              <a:t>Training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847" y="1150000"/>
            <a:ext cx="1600000" cy="48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B47BC"/>
                </a:solidFill>
              </a:defRPr>
            </a:pPr>
            <a:r>
              <a:t>JSONL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847" y="1645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B0"/>
                </a:solidFill>
              </a:defRPr>
            </a:pPr>
            <a:r>
              <a:t>Training pairs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5847" y="1390000"/>
            <a:ext cx="120000" cy="0"/>
          </a:xfrm>
          <a:prstGeom prst="line">
            <a:avLst/>
          </a:prstGeom>
          <a:ln w="25400">
            <a:solidFill>
              <a:srgbClr val="AB47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15847" y="1150000"/>
            <a:ext cx="1600000" cy="48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FC3F7"/>
                </a:solidFill>
              </a:defRPr>
            </a:pPr>
            <a:r>
              <a:t>ChatML</a:t>
            </a:r>
            <a:br/>
            <a:r>
              <a:t>Convert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847" y="1645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B0"/>
                </a:solidFill>
              </a:defRPr>
            </a:pPr>
            <a:r>
              <a:t>System/User/</a:t>
            </a:r>
            <a:br/>
            <a:r>
              <a:t>Assistant msgs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5847" y="1390000"/>
            <a:ext cx="120000" cy="0"/>
          </a:xfrm>
          <a:prstGeom prst="line">
            <a:avLst/>
          </a:prstGeom>
          <a:ln w="25400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35847" y="1150000"/>
            <a:ext cx="1600000" cy="48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BB6A"/>
                </a:solidFill>
              </a:defRPr>
            </a:pPr>
            <a:r>
              <a:t>4-bit</a:t>
            </a:r>
            <a:br/>
            <a:r>
              <a:t>Quantize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847" y="1645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B0"/>
                </a:solidFill>
              </a:defRPr>
            </a:pPr>
            <a:r>
              <a:t>NF4 quantization</a:t>
            </a:r>
            <a:br/>
            <a:r>
              <a:t>fits in GPU mem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847" y="1390000"/>
            <a:ext cx="120000" cy="0"/>
          </a:xfrm>
          <a:prstGeom prst="line">
            <a:avLst/>
          </a:prstGeom>
          <a:ln w="25400">
            <a:solidFill>
              <a:srgbClr val="66B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55847" y="1150000"/>
            <a:ext cx="1600000" cy="48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A726"/>
                </a:solidFill>
              </a:defRPr>
            </a:pPr>
            <a:r>
              <a:t>LoRA</a:t>
            </a:r>
            <a:br/>
            <a:r>
              <a:t>Adapters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5847" y="1645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B0"/>
                </a:solidFill>
              </a:defRPr>
            </a:pPr>
            <a:r>
              <a:t>Small trainable</a:t>
            </a:r>
            <a:br/>
            <a:r>
              <a:t>layers attached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55847" y="1390000"/>
            <a:ext cx="120000" cy="0"/>
          </a:xfrm>
          <a:prstGeom prst="line">
            <a:avLst/>
          </a:prstGeom>
          <a:ln w="25400">
            <a:solidFill>
              <a:srgbClr val="FFA7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75847" y="1150000"/>
            <a:ext cx="1600000" cy="48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6292"/>
                </a:solidFill>
              </a:defRPr>
            </a:pPr>
            <a:r>
              <a:t>SFT</a:t>
            </a:r>
            <a:br/>
            <a:r>
              <a:t>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5847" y="1645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B0"/>
                </a:solidFill>
              </a:defRPr>
            </a:pPr>
            <a:r>
              <a:t>Only adapter</a:t>
            </a:r>
            <a:br/>
            <a:r>
              <a:t>weights updated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75847" y="1390000"/>
            <a:ext cx="120000" cy="0"/>
          </a:xfrm>
          <a:prstGeom prst="line">
            <a:avLst/>
          </a:prstGeom>
          <a:ln w="25400">
            <a:solidFill>
              <a:srgbClr val="F062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95847" y="1150000"/>
            <a:ext cx="1600000" cy="48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Merged</a:t>
            </a:r>
            <a:br/>
            <a: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5847" y="1645000"/>
            <a:ext cx="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B0"/>
                </a:solidFill>
              </a:defRPr>
            </a:pPr>
            <a:r>
              <a:t>Standalone model</a:t>
            </a:r>
            <a:br/>
            <a:r>
              <a:t>for deployment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0000" y="2450000"/>
            <a:ext cx="11400000" cy="20000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000" y="251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C3F7"/>
                </a:solidFill>
              </a:defRPr>
            </a:pPr>
            <a:r>
              <a:t>Serving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65847" y="2850000"/>
            <a:ext cx="2300000" cy="50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B47BC"/>
                </a:solidFill>
              </a:defRPr>
            </a:pPr>
            <a:r>
              <a:t>User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5847" y="3365000"/>
            <a:ext cx="2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Natural language</a:t>
            </a:r>
            <a:br/>
            <a:r>
              <a:t>description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65847" y="3100000"/>
            <a:ext cx="220000" cy="0"/>
          </a:xfrm>
          <a:prstGeom prst="line">
            <a:avLst/>
          </a:prstGeom>
          <a:ln w="25400">
            <a:solidFill>
              <a:srgbClr val="AB47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685847" y="2850000"/>
            <a:ext cx="2300000" cy="50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C3F7"/>
                </a:solidFill>
              </a:defRPr>
            </a:pPr>
            <a:r>
              <a:t>vLLM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847" y="3365000"/>
            <a:ext cx="2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OpenAI-compatible API</a:t>
            </a:r>
            <a:br/>
            <a:r>
              <a:t>(merged or base+adapter)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5847" y="3100000"/>
            <a:ext cx="220000" cy="0"/>
          </a:xfrm>
          <a:prstGeom prst="line">
            <a:avLst/>
          </a:prstGeom>
          <a:ln w="25400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05847" y="2850000"/>
            <a:ext cx="2300000" cy="50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6BB6A"/>
                </a:solidFill>
              </a:defRPr>
            </a:pPr>
            <a:r>
              <a:t>Extract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5847" y="3365000"/>
            <a:ext cx="2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Parse markdown</a:t>
            </a:r>
            <a:br/>
            <a:r>
              <a:t>code fences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05847" y="3100000"/>
            <a:ext cx="220000" cy="0"/>
          </a:xfrm>
          <a:prstGeom prst="line">
            <a:avLst/>
          </a:prstGeom>
          <a:ln w="25400">
            <a:solidFill>
              <a:srgbClr val="66BB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725847" y="2850000"/>
            <a:ext cx="2300000" cy="500000"/>
          </a:xfrm>
          <a:prstGeom prst="roundRect">
            <a:avLst>
              <a:gd name="adj" fmla="val 6000"/>
            </a:avLst>
          </a:prstGeom>
          <a:solidFill>
            <a:srgbClr val="2A2A45"/>
          </a:solidFill>
          <a:ln w="1905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C6DA"/>
                </a:solidFill>
              </a:defRPr>
            </a:pPr>
            <a:r>
              <a:t>PySpark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5847" y="3365000"/>
            <a:ext cx="2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Production-ready</a:t>
            </a:r>
            <a:br/>
            <a:r>
              <a:t>output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000" y="3900000"/>
            <a:ext cx="11400000" cy="20000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0000" y="396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</a:defRPr>
            </a:pPr>
            <a:r>
              <a:t>Key Technical Details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847" y="4300000"/>
            <a:ext cx="2500000" cy="520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A726"/>
                </a:solidFill>
              </a:defRPr>
            </a:pPr>
            <a:r>
              <a:t>LoRA 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847" y="483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Rank: 16, Alpha: 32</a:t>
            </a:r>
            <a:br/>
            <a:r>
              <a:t>Targets: attention +</a:t>
            </a:r>
            <a:br/>
            <a:r>
              <a:t>feed-forward layers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95847" y="4300000"/>
            <a:ext cx="2500000" cy="520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BB6A"/>
                </a:solidFill>
              </a:defRPr>
            </a:pPr>
            <a:r>
              <a:t>Quantization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95847" y="483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4-bit NF4 with</a:t>
            </a:r>
            <a:br/>
            <a:r>
              <a:t>double quantization</a:t>
            </a:r>
            <a:br/>
            <a:r>
              <a:t>bfloat16 compute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5847" y="4300000"/>
            <a:ext cx="2500000" cy="520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6292"/>
                </a:solidFill>
              </a:defRPr>
            </a:pPr>
            <a:r>
              <a:t>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5847" y="483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3 epochs, cosine LR</a:t>
            </a:r>
            <a:br/>
            <a:r>
              <a:t>paged AdamW 8-bit</a:t>
            </a:r>
            <a:br/>
            <a:r>
              <a:t>gradient checkpointing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95847" y="4300000"/>
            <a:ext cx="2500000" cy="520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FC3F7"/>
                </a:solidFill>
              </a:defRPr>
            </a:pPr>
            <a:r>
              <a:t>GPU Profiles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5847" y="483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0B0"/>
                </a:solidFill>
              </a:defRPr>
            </a:pPr>
            <a:r>
              <a:t>Auto-detects VRAM:</a:t>
            </a:r>
            <a:br/>
            <a:r>
              <a:t>16GB to 80GB</a:t>
            </a:r>
            <a:br/>
            <a:r>
              <a:t>adjusts batch size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000" y="57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BB6A"/>
                </a:solidFill>
              </a:defRPr>
            </a:pPr>
            <a:r>
              <a:t>Pros: Higher quality, faster inference, learns domain patterns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0000" y="57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6292"/>
                </a:solidFill>
              </a:defRPr>
            </a:pPr>
            <a:r>
              <a:t>Cons: Requires GPU training, retraining on data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50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00000" y="100000"/>
            <a:ext cx="110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RAG vs Fine-tuning: When to Use Which?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5847" y="950000"/>
            <a:ext cx="5200000" cy="4800000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95847" y="950000"/>
            <a:ext cx="5200000" cy="550000"/>
          </a:xfrm>
          <a:prstGeom prst="roundRect">
            <a:avLst>
              <a:gd name="adj" fmla="val 8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847" y="1300000"/>
            <a:ext cx="5200000" cy="2000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75847" y="1570000"/>
            <a:ext cx="484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4FC3F7"/>
                </a:solidFill>
              </a:defRPr>
            </a:pPr>
            <a:r>
              <a:t>How it works: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  <a:r>
              <a:t>Embed query -&gt; find similar examples in FAISS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  <a:r>
              <a:t>-&gt; inject as few-shot context -&gt; LLM generates code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</a:p>
          <a:p>
            <a:pPr algn="l">
              <a:spcAft>
                <a:spcPts val="300"/>
              </a:spcAft>
              <a:defRPr sz="1000" b="1">
                <a:solidFill>
                  <a:srgbClr val="66BB6A"/>
                </a:solidFill>
              </a:defRPr>
            </a:pPr>
            <a:r>
              <a:t>Strengths: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BB6A"/>
                </a:solidFill>
              </a:defRPr>
            </a:pPr>
            <a:r>
              <a:t>  + No GPU training needed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BB6A"/>
                </a:solidFill>
              </a:defRPr>
            </a:pPr>
            <a:r>
              <a:t>  + Easy to update (just re-index new examples)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BB6A"/>
                </a:solidFill>
              </a:defRPr>
            </a:pPr>
            <a:r>
              <a:t>  + Fast setup (minutes, not hours)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BB6A"/>
                </a:solidFill>
              </a:defRPr>
            </a:pPr>
            <a:r>
              <a:t>  + Low infrastructure cost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</a:p>
          <a:p>
            <a:pPr algn="l">
              <a:spcAft>
                <a:spcPts val="300"/>
              </a:spcAft>
              <a:defRPr sz="1000" b="1">
                <a:solidFill>
                  <a:srgbClr val="F06292"/>
                </a:solidFill>
              </a:defRPr>
            </a:pPr>
            <a:r>
              <a:t>Limitations: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6292"/>
                </a:solidFill>
              </a:defRPr>
            </a:pPr>
            <a:r>
              <a:t>  - Quality depends on having similar examples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6292"/>
                </a:solidFill>
              </a:defRPr>
            </a:pPr>
            <a:r>
              <a:t>  - Larger context window needed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6292"/>
                </a:solidFill>
              </a:defRPr>
            </a:pPr>
            <a:r>
              <a:t>  - Slower inference (embed + search + LLM)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</a:p>
          <a:p>
            <a:pPr algn="l">
              <a:spcAft>
                <a:spcPts val="300"/>
              </a:spcAft>
              <a:defRPr sz="1000" b="1">
                <a:solidFill>
                  <a:srgbClr val="FFA726"/>
                </a:solidFill>
              </a:defRPr>
            </a:pPr>
            <a:r>
              <a:t>Best for: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  <a:r>
              <a:t>Rapid prototyping, frequently changing data,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  <a:r>
              <a:t>limited GPU access, early-stage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5847" y="950000"/>
            <a:ext cx="5200000" cy="4800000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295847" y="950000"/>
            <a:ext cx="5200000" cy="550000"/>
          </a:xfrm>
          <a:prstGeom prst="roundRect">
            <a:avLst>
              <a:gd name="adj" fmla="val 8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Fine-tuning (QLoRA)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5847" y="1300000"/>
            <a:ext cx="5200000" cy="20000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5847" y="1570000"/>
            <a:ext cx="484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A726"/>
                </a:solidFill>
              </a:defRPr>
            </a:pPr>
            <a:r>
              <a:t>How it works: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  <a:r>
              <a:t>Quantize base model -&gt; attach LoRA adapters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  <a:r>
              <a:t>-&gt; train on our data -&gt; merge -&gt; serve via vLLM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</a:p>
          <a:p>
            <a:pPr algn="l">
              <a:spcAft>
                <a:spcPts val="300"/>
              </a:spcAft>
              <a:defRPr sz="1000" b="1">
                <a:solidFill>
                  <a:srgbClr val="66BB6A"/>
                </a:solidFill>
              </a:defRPr>
            </a:pPr>
            <a:r>
              <a:t>Strengths: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BB6A"/>
                </a:solidFill>
              </a:defRPr>
            </a:pPr>
            <a:r>
              <a:t>  + Higher quality (model learns our patterns)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BB6A"/>
                </a:solidFill>
              </a:defRPr>
            </a:pPr>
            <a:r>
              <a:t>  + Faster inference (no retrieval step)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BB6A"/>
                </a:solidFill>
              </a:defRPr>
            </a:pPr>
            <a:r>
              <a:t>  + Better for novel/unseen query types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6BB6A"/>
                </a:solidFill>
              </a:defRPr>
            </a:pPr>
            <a:r>
              <a:t>  + Smaller memory footprint at inference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</a:p>
          <a:p>
            <a:pPr algn="l">
              <a:spcAft>
                <a:spcPts val="300"/>
              </a:spcAft>
              <a:defRPr sz="1000" b="1">
                <a:solidFill>
                  <a:srgbClr val="F06292"/>
                </a:solidFill>
              </a:defRPr>
            </a:pPr>
            <a:r>
              <a:t>Limitations: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6292"/>
                </a:solidFill>
              </a:defRPr>
            </a:pPr>
            <a:r>
              <a:t>  - Requires GPU for training (16-80 GB VRAM)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6292"/>
                </a:solidFill>
              </a:defRPr>
            </a:pPr>
            <a:r>
              <a:t>  - Needs retraining when data changes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6292"/>
                </a:solidFill>
              </a:defRPr>
            </a:pPr>
            <a:r>
              <a:t>  - More complex setup (PyTorch, PEFT, TRL)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</a:p>
          <a:p>
            <a:pPr algn="l">
              <a:spcAft>
                <a:spcPts val="300"/>
              </a:spcAft>
              <a:defRPr sz="1000" b="1">
                <a:solidFill>
                  <a:srgbClr val="4FC3F7"/>
                </a:solidFill>
              </a:defRPr>
            </a:pPr>
            <a:r>
              <a:t>Best for: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  <a:r>
              <a:t>Production use, stable training data,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0E0E0"/>
                </a:solidFill>
              </a:defRPr>
            </a:pPr>
            <a:r>
              <a:t>when output quality is the top priority</a:t>
            </a:r>
          </a:p>
        </p:txBody>
      </p:sp>
      <p:sp>
        <p:nvSpPr>
          <p:cNvPr id="13" name="Oval 12"/>
          <p:cNvSpPr/>
          <p:nvPr/>
        </p:nvSpPr>
        <p:spPr>
          <a:xfrm>
            <a:off x="5845847" y="3100000"/>
            <a:ext cx="500000" cy="50000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6778000"/>
            <a:ext cx="12191695" cy="800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